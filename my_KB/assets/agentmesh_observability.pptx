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828800"/>
            <a:ext cx="2286000" cy="22860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· Observability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Unified View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560320" cy="868680"/>
          </a:xfrm>
          <a:prstGeom prst="roundedRect">
            <a:avLst>
              <a:gd name="adj" fmla="val 12632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651760"/>
            <a:ext cx="2560320" cy="868680"/>
          </a:xfrm>
          <a:prstGeom prst="roundedRect">
            <a:avLst>
              <a:gd name="adj" fmla="val 12632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/ how fast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651760"/>
            <a:ext cx="2560320" cy="868680"/>
          </a:xfrm>
          <a:prstGeom prst="roundedRect">
            <a:avLst>
              <a:gd name="adj" fmla="val 12632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logged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→ OTLP/HTTP → Grafana Cloud (Tempo · Mimir · Loki)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by shared trace_id across all three signals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Observability Layers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answers a different question — all three are wired at startup via setup_observability().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2788920" cy="3840480"/>
          </a:xfrm>
          <a:prstGeom prst="roundedRect">
            <a:avLst>
              <a:gd name="adj" fmla="val 3279"/>
            </a:avLst>
          </a:prstGeom>
          <a:solidFill>
            <a:srgbClr val="1C2E45"/>
          </a:solidFill>
          <a:ln w="1016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97280"/>
            <a:ext cx="2788920" cy="502920"/>
          </a:xfrm>
          <a:prstGeom prst="roundedRect">
            <a:avLst>
              <a:gd name="adj" fmla="val 18182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113385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span: mesh.request opened by orchestrator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spans auto-created per pipeline step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traceparent header propagated via HTTPX instrumentation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journey = single connected span tree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as latency waterfall in Tempo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4526280"/>
            <a:ext cx="2606040" cy="292608"/>
          </a:xfrm>
          <a:prstGeom prst="rounde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4526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 Tempo  ·  /v1/traces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788920" cy="3840480"/>
          </a:xfrm>
          <a:prstGeom prst="roundedRect">
            <a:avLst>
              <a:gd name="adj" fmla="val 3279"/>
            </a:avLst>
          </a:prstGeom>
          <a:solidFill>
            <a:srgbClr val="1C2E45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97280"/>
            <a:ext cx="2788920" cy="502920"/>
          </a:xfrm>
          <a:prstGeom prst="roundedRect">
            <a:avLst>
              <a:gd name="adj" fmla="val 18182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338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113385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0128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/ how fast?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01168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meter created at startup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record_*() increments counters per step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histograms recorded automatically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names follow fab.* convention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built on Mimir queries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4526280"/>
            <a:ext cx="2606040" cy="292608"/>
          </a:xfrm>
          <a:prstGeom prst="roundedRect">
            <a:avLst>
              <a:gd name="adj" fmla="val 25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526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 Mimir  ·  /v1/metrics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44768" y="1097280"/>
            <a:ext cx="2788920" cy="3840480"/>
          </a:xfrm>
          <a:prstGeom prst="roundedRect">
            <a:avLst>
              <a:gd name="adj" fmla="val 3279"/>
            </a:avLst>
          </a:prstGeom>
          <a:solidFill>
            <a:srgbClr val="1C2E45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097280"/>
            <a:ext cx="2788920" cy="502920"/>
          </a:xfrm>
          <a:prstGeom prst="roundedRect">
            <a:avLst>
              <a:gd name="adj" fmla="val 18182"/>
            </a:avLst>
          </a:prstGeom>
          <a:solidFill>
            <a:srgbClr val="F97316">
              <a:alpha val="22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1338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47688" y="113385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54496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logged?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4496" y="201168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logger configured at startup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TraceContextFilter injects trace_id + span_id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 line carries both IDs automatically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service, level, or trace_id in Loki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log line → jump to correlated trace in Tempo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6208" y="4526280"/>
            <a:ext cx="2606040" cy="292608"/>
          </a:xfrm>
          <a:prstGeom prst="roundedRect">
            <a:avLst>
              <a:gd name="adj" fmla="val 25000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4526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 Loki  ·  /v1/logs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032" y="50474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exporters authenticate with the same Authorization: Basic base64(GRAFANA_INSTANCE_ID:GRAFANA_API_TOKEN) header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Journey Through the Mesh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auto-instruments — no manual tracing code at each call site.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143000"/>
            <a:ext cx="1325880" cy="868680"/>
          </a:xfrm>
          <a:prstGeom prst="roundedRect">
            <a:avLst>
              <a:gd name="adj" fmla="val 10526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1430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00200" y="1435608"/>
            <a:ext cx="117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0B8"/>
                </a:solidFill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17243" y="1143000"/>
            <a:ext cx="1325880" cy="868680"/>
          </a:xfrm>
          <a:prstGeom prst="roundedRect">
            <a:avLst>
              <a:gd name="adj" fmla="val 10526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7243" y="11430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stamps request_id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mesh.request span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1411" y="1435608"/>
            <a:ext cx="117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0B8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78454" y="1143000"/>
            <a:ext cx="1325880" cy="868680"/>
          </a:xfrm>
          <a:prstGeom prst="roundedRect">
            <a:avLst>
              <a:gd name="adj" fmla="val 10526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8454" y="11430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RBAC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Compliance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22622" y="1435608"/>
            <a:ext cx="117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0B8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39666" y="1143000"/>
            <a:ext cx="1325880" cy="868680"/>
          </a:xfrm>
          <a:prstGeom prst="roundedRect">
            <a:avLst>
              <a:gd name="adj" fmla="val 10526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9666" y="11430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83834" y="1435608"/>
            <a:ext cx="117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0B8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00877" y="1143000"/>
            <a:ext cx="1325880" cy="868680"/>
          </a:xfrm>
          <a:prstGeom prst="roundedRect">
            <a:avLst>
              <a:gd name="adj" fmla="val 10526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0877" y="11430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(HTTP)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45045" y="1435608"/>
            <a:ext cx="117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0B8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62088" y="1143000"/>
            <a:ext cx="1325880" cy="868680"/>
          </a:xfrm>
          <a:prstGeom prst="roundedRect">
            <a:avLst>
              <a:gd name="adj" fmla="val 10526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2088" y="11430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2212848"/>
            <a:ext cx="2606040" cy="411480"/>
          </a:xfrm>
          <a:prstGeom prst="roundedRect">
            <a:avLst>
              <a:gd name="adj" fmla="val 17778"/>
            </a:avLst>
          </a:prstGeom>
          <a:solidFill>
            <a:srgbClr val="162032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traceparent header auto-injected by HTTPX instrumentation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" y="2788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Span Tree in Tempo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" y="3154680"/>
            <a:ext cx="2651760" cy="201168"/>
          </a:xfrm>
          <a:prstGeom prst="roundedRect">
            <a:avLst>
              <a:gd name="adj" fmla="val 22727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3154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mesh.request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42032" y="3154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" y="3410712"/>
            <a:ext cx="2514600" cy="201168"/>
          </a:xfrm>
          <a:prstGeom prst="roundedRect">
            <a:avLst>
              <a:gd name="adj" fmla="val 22727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guardrails.check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53512" y="3410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6032" y="36393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" y="3666744"/>
            <a:ext cx="2514600" cy="201168"/>
          </a:xfrm>
          <a:prstGeom prst="roundedRect">
            <a:avLst>
              <a:gd name="adj" fmla="val 22727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36667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rbac.authorize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53512" y="3666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6032" y="3895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7512" y="3922776"/>
            <a:ext cx="2514600" cy="201168"/>
          </a:xfrm>
          <a:prstGeom prst="roundedRect">
            <a:avLst>
              <a:gd name="adj" fmla="val 22727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" y="39227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compliance.scan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53512" y="39227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56032" y="4151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7512" y="4178808"/>
            <a:ext cx="2514600" cy="201168"/>
          </a:xfrm>
          <a:prstGeom prst="roundedRect">
            <a:avLst>
              <a:gd name="adj" fmla="val 22727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" y="4178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domain.route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53512" y="41788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56032" y="44074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7512" y="4434840"/>
            <a:ext cx="2514600" cy="201168"/>
          </a:xfrm>
          <a:prstGeom prst="roundedRect">
            <a:avLst>
              <a:gd name="adj" fmla="val 22727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" y="4434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agent.call → remote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53512" y="4434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67512" y="4663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78992" y="4690872"/>
            <a:ext cx="2377440" cy="201168"/>
          </a:xfrm>
          <a:prstGeom prst="roundedRect">
            <a:avLst>
              <a:gd name="adj" fmla="val 22727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33856" y="4690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remote_agent.respond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64992" y="4690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ms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37760" y="2788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Recorded Per Step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937760" y="3127248"/>
            <a:ext cx="3840480" cy="548640"/>
          </a:xfrm>
          <a:prstGeom prst="roundedRect">
            <a:avLst>
              <a:gd name="adj" fmla="val 16667"/>
            </a:avLst>
          </a:prstGeom>
          <a:solidFill>
            <a:srgbClr val="1C2E45"/>
          </a:solidFill>
          <a:ln w="1016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937760" y="3127248"/>
            <a:ext cx="685800" cy="548640"/>
          </a:xfrm>
          <a:prstGeom prst="roundedRect">
            <a:avLst>
              <a:gd name="adj" fmla="val 16667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1272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87568" y="3218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span opened, parent linked via span context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937760" y="3785616"/>
            <a:ext cx="3840480" cy="548640"/>
          </a:xfrm>
          <a:prstGeom prst="roundedRect">
            <a:avLst>
              <a:gd name="adj" fmla="val 16667"/>
            </a:avLst>
          </a:prstGeom>
          <a:solidFill>
            <a:srgbClr val="1C2E45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937760" y="3785616"/>
            <a:ext cx="685800" cy="548640"/>
          </a:xfrm>
          <a:prstGeom prst="roundedRect">
            <a:avLst>
              <a:gd name="adj" fmla="val 16667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3785616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687568" y="38770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incremented + latency histogram recorded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937760" y="4443984"/>
            <a:ext cx="3840480" cy="548640"/>
          </a:xfrm>
          <a:prstGeom prst="roundedRect">
            <a:avLst>
              <a:gd name="adj" fmla="val 16667"/>
            </a:avLst>
          </a:prstGeom>
          <a:solidFill>
            <a:srgbClr val="1C2E45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937760" y="4443984"/>
            <a:ext cx="685800" cy="548640"/>
          </a:xfrm>
          <a:prstGeom prst="roundedRect">
            <a:avLst>
              <a:gd name="adj" fmla="val 16667"/>
            </a:avLst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4443984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687568" y="45354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line written with trace_id + span_id injected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56032" y="50474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setup_observability() wires all of this once at startup — auto-instrumentation handles every call site.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by trace_id — One Click Across All Signals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trace_id threads through Tempo, Mimir, and Loki so any signal can jump to any other.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703320" y="1554480"/>
            <a:ext cx="1737360" cy="173736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03320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trace_id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2560320" cy="1600200"/>
          </a:xfrm>
          <a:prstGeom prst="roundedRect">
            <a:avLst>
              <a:gd name="adj" fmla="val 5714"/>
            </a:avLst>
          </a:prstGeom>
          <a:solidFill>
            <a:srgbClr val="1C2E45"/>
          </a:solidFill>
          <a:ln w="1016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45920"/>
            <a:ext cx="2560320" cy="438912"/>
          </a:xfrm>
          <a:prstGeom prst="roundedRect">
            <a:avLst>
              <a:gd name="adj" fmla="val 20833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73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737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148840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span tree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waterfall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Parent→child hierarchy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timing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657600"/>
            <a:ext cx="2560320" cy="1325880"/>
          </a:xfrm>
          <a:prstGeom prst="roundedRect">
            <a:avLst>
              <a:gd name="adj" fmla="val 6897"/>
            </a:avLst>
          </a:prstGeom>
          <a:solidFill>
            <a:srgbClr val="1C2E45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3657600"/>
            <a:ext cx="2560320" cy="438912"/>
          </a:xfrm>
          <a:prstGeom prst="roundedRect">
            <a:avLst>
              <a:gd name="adj" fmla="val 20833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3685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37490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01568" y="4160520"/>
            <a:ext cx="2377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fab.* counter timeseries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histograms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Dashboard-ready queries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560320" cy="1600200"/>
          </a:xfrm>
          <a:prstGeom prst="roundedRect">
            <a:avLst>
              <a:gd name="adj" fmla="val 5714"/>
            </a:avLst>
          </a:prstGeom>
          <a:solidFill>
            <a:srgbClr val="1C2E45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645920"/>
            <a:ext cx="2560320" cy="438912"/>
          </a:xfrm>
          <a:prstGeom prst="roundedRect">
            <a:avLst>
              <a:gd name="adj" fmla="val 20833"/>
            </a:avLst>
          </a:prstGeom>
          <a:solidFill>
            <a:srgbClr val="F97316">
              <a:alpha val="22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673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63840" y="1737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9088" y="2148840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by trace_id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service / level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TraceContextFilter auto-injects IDs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→ jump to Tempo trace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2450592"/>
            <a:ext cx="868680" cy="-54864"/>
          </a:xfrm>
          <a:prstGeom prst="line">
            <a:avLst/>
          </a:prstGeom>
          <a:noFill/>
          <a:ln w="15240">
            <a:solidFill>
              <a:srgbClr val="A78BF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26280" y="3291840"/>
            <a:ext cx="0" cy="365760"/>
          </a:xfrm>
          <a:prstGeom prst="line">
            <a:avLst/>
          </a:prstGeom>
          <a:noFill/>
          <a:ln w="15240">
            <a:solidFill>
              <a:srgbClr val="A78BF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440680" y="2395728"/>
            <a:ext cx="868680" cy="54864"/>
          </a:xfrm>
          <a:prstGeom prst="line">
            <a:avLst/>
          </a:prstGeom>
          <a:noFill/>
          <a:ln w="15240">
            <a:solidFill>
              <a:srgbClr val="A78BF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56032" y="4617720"/>
            <a:ext cx="8631936" cy="411480"/>
          </a:xfrm>
          <a:prstGeom prst="roundedRect">
            <a:avLst>
              <a:gd name="adj" fmla="val 22222"/>
            </a:avLst>
          </a:prstGeom>
          <a:solidFill>
            <a:srgbClr val="162032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OBS_PROFILE=grafana  →  three OTLP/HTTP exporters active  →  single OTLP gateway  →  same Basic auth header for all three backends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Setup, Auth &amp; Exporter Reference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wired once — downstream agents inherit the same context automatically.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(called once)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325880"/>
          </a:xfrm>
          <a:prstGeom prst="roundedRect">
            <a:avLst>
              <a:gd name="adj" fmla="val 6897"/>
            </a:avLst>
          </a:prstGeom>
          <a:solidFill>
            <a:srgbClr val="0D1B2A"/>
          </a:solidFill>
          <a:ln w="1016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26464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setup_observability(
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"agent_mesh_cli"
</a:t>
            </a:r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Configures:
</a:t>
            </a:r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→ tracer  (OTel TraceProvider)
</a:t>
            </a:r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→ meter   (OTel MeterProvider)
</a:t>
            </a:r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→ logger  (OTel LogProvider)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816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(all three exporters)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4023360" cy="841248"/>
          </a:xfrm>
          <a:prstGeom prst="roundedRect">
            <a:avLst>
              <a:gd name="adj" fmla="val 10870"/>
            </a:avLst>
          </a:prstGeom>
          <a:solidFill>
            <a:srgbClr val="0D1B2A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14553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Basic
</a:t>
            </a:r>
            <a:pPr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base64(
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GRAFANA_INSTANCE_ID
</a:t>
            </a:r>
            <a:pPr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
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GRAFANA_API_TOKEN
</a:t>
            </a:r>
            <a:pPr indent="0" marL="0">
              <a:buNone/>
            </a:pPr>
            <a:r>
              <a:rPr lang="en-US" sz="1000" dirty="0">
                <a:solidFill>
                  <a:srgbClr val="8B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097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OTLP/HTTP Exporter Routing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89888"/>
            <a:ext cx="4114800" cy="841248"/>
          </a:xfrm>
          <a:prstGeom prst="roundedRect">
            <a:avLst>
              <a:gd name="adj" fmla="val 10870"/>
            </a:avLst>
          </a:prstGeom>
          <a:solidFill>
            <a:srgbClr val="1C2E45"/>
          </a:solidFill>
          <a:ln w="1016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89888"/>
            <a:ext cx="4114800" cy="320040"/>
          </a:xfrm>
          <a:prstGeom prst="roundedRect">
            <a:avLst>
              <a:gd name="adj" fmla="val 28571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/v1/traces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4356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Tempo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7922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span tree &amp; waterfall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350008"/>
            <a:ext cx="4114800" cy="841248"/>
          </a:xfrm>
          <a:prstGeom prst="roundedRect">
            <a:avLst>
              <a:gd name="adj" fmla="val 10870"/>
            </a:avLst>
          </a:prstGeom>
          <a:solidFill>
            <a:srgbClr val="1C2E45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50008"/>
            <a:ext cx="4114800" cy="320040"/>
          </a:xfrm>
          <a:prstGeom prst="roundedRect">
            <a:avLst>
              <a:gd name="adj" fmla="val 28571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/v1/metrics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Mimir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7523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fab.* timeseries &amp; histograms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310128"/>
            <a:ext cx="4114800" cy="841248"/>
          </a:xfrm>
          <a:prstGeom prst="roundedRect">
            <a:avLst>
              <a:gd name="adj" fmla="val 10870"/>
            </a:avLst>
          </a:prstGeom>
          <a:solidFill>
            <a:srgbClr val="1C2E45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310128"/>
            <a:ext cx="4114800" cy="320040"/>
          </a:xfrm>
          <a:prstGeom prst="roundedRect">
            <a:avLst>
              <a:gd name="adj" fmla="val 28571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/v1/logs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355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Loki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7124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lines with trace_id + span_id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041648"/>
            <a:ext cx="8412480" cy="749808"/>
          </a:xfrm>
          <a:prstGeom prst="roundedRect">
            <a:avLst>
              <a:gd name="adj" fmla="val 12195"/>
            </a:avLst>
          </a:prstGeom>
          <a:solidFill>
            <a:srgbClr val="162032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096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TraceContextMiddleware  +  TraceContextFilter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35254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reads incoming traceparent → continues same trace across agent boundaries.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injects trace_id + span_id into every log record before it is written.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50474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opentelemetry-instrumentation-httpx auto-adds traceparent to all outgoing HTTP calls — zero manual code per call site.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AgentMesh Observability — Three Layers, One Unified View</dc:title>
  <dc:subject>PptxGenJS Presentation</dc:subject>
  <dc:creator>PptxGenJS</dc:creator>
  <cp:lastModifiedBy>PptxGenJS</cp:lastModifiedBy>
  <cp:revision>1</cp:revision>
  <dcterms:created xsi:type="dcterms:W3CDTF">2026-06-26T10:40:00Z</dcterms:created>
  <dcterms:modified xsi:type="dcterms:W3CDTF">2026-06-26T10:40:00Z</dcterms:modified>
</cp:coreProperties>
</file>